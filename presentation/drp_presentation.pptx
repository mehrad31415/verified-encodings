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9"/>
  </p:normalViewPr>
  <p:slideViewPr>
    <p:cSldViewPr snapToGrid="0" snapToObjects="1">
      <p:cViewPr varScale="1">
        <p:scale>
          <a:sx n="104" d="100"/>
          <a:sy n="104" d="100"/>
        </p:scale>
        <p:origin x="80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B365D"/>
                </a:solidFill>
              </a:defRPr>
            </a:pPr>
            <a:r>
              <a:t>Verified Encodings for SAT Solvers in Coq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108960"/>
            <a:ext cx="4876495" cy="45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62895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000000"/>
                </a:solidFill>
              </a:defRPr>
            </a:pPr>
            <a:r>
              <a:rPr dirty="0" err="1"/>
              <a:t>UWaterloo</a:t>
            </a:r>
            <a:r>
              <a:rPr dirty="0"/>
              <a:t> Women in Math DRP </a:t>
            </a:r>
            <a:r>
              <a:rPr lang="en-US" dirty="0"/>
              <a:t>--</a:t>
            </a:r>
            <a:r>
              <a:rPr dirty="0"/>
              <a:t> Winter 2026</a:t>
            </a:r>
          </a:p>
          <a:p>
            <a:pPr>
              <a:defRPr sz="1200"/>
            </a:pPr>
            <a:endParaRPr dirty="0"/>
          </a:p>
          <a:p>
            <a:pPr algn="ctr">
              <a:defRPr sz="2000">
                <a:solidFill>
                  <a:srgbClr val="1B365D"/>
                </a:solidFill>
              </a:defRPr>
            </a:pPr>
            <a:r>
              <a:rPr dirty="0"/>
              <a:t>Mentor: Mehrad Haghshenas</a:t>
            </a:r>
          </a:p>
          <a:p>
            <a:pPr algn="ctr">
              <a:defRPr sz="2000">
                <a:solidFill>
                  <a:srgbClr val="1B365D"/>
                </a:solidFill>
              </a:defRPr>
            </a:pPr>
            <a:r>
              <a:rPr dirty="0"/>
              <a:t>Mentees: Jeannie, Tianyi, Linxi, Manvi, Sarah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65D"/>
                </a:solidFill>
              </a:defRPr>
            </a:pPr>
            <a:r>
              <a:t>What is SAT?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Boolean Satisfiability Problem (SAT): Given a Boolean formula, is there an assignment of variables making it true?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First problem proved NP-complete (Cook-Levin theorem, 1971)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Applications: hardware verification, AI planning, cryptanalysis, software testing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Modern SAT solvers can handle formulas with millions of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65D"/>
                </a:solidFill>
              </a:defRPr>
            </a:pPr>
            <a:r>
              <a:t>SAT Solvers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DPLL algorithm (1962): systematic search with backtracking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CDCL (Conflict-Driven Clause Learning): the modern approach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Key insight: learn from conflicts to prune the search space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Problems must be in CNF (Conjunctive Normal Form):</a:t>
            </a:r>
          </a:p>
          <a:p>
            <a:pPr marL="685800" lvl="1" indent="-228600">
              <a:spcBef>
                <a:spcPts val="2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CNF = conjunction (AND) of clauses</a:t>
            </a:r>
          </a:p>
          <a:p>
            <a:pPr marL="685800" lvl="1" indent="-228600">
              <a:spcBef>
                <a:spcPts val="2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Clause = disjunction (OR) of literals</a:t>
            </a:r>
          </a:p>
          <a:p>
            <a:pPr marL="685800" lvl="1" indent="-228600">
              <a:spcBef>
                <a:spcPts val="2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Literal = a variable or its negation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65D"/>
                </a:solidFill>
              </a:defRPr>
            </a:pPr>
            <a:r>
              <a:t>The Encoding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Many problems must be encoded into CNF for SAT solvers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Encodings can be WRONG </a:t>
            </a:r>
            <a:r>
              <a:rPr lang="en-US" dirty="0"/>
              <a:t>--</a:t>
            </a:r>
            <a:r>
              <a:rPr dirty="0"/>
              <a:t> hard to verify by hand!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Example: "at most one of x₁, ..., xₙ is true"</a:t>
            </a:r>
          </a:p>
          <a:p>
            <a:pPr marL="685800" lvl="1" indent="-228600">
              <a:spcBef>
                <a:spcPts val="2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Naive: add ¬xᵢ ∨ ¬xⱼ for all </a:t>
            </a:r>
            <a:r>
              <a:rPr dirty="0" err="1"/>
              <a:t>i</a:t>
            </a:r>
            <a:r>
              <a:rPr dirty="0"/>
              <a:t> &lt; j </a:t>
            </a:r>
            <a:r>
              <a:rPr lang="en-US" dirty="0"/>
              <a:t>--</a:t>
            </a:r>
            <a:r>
              <a:rPr dirty="0"/>
              <a:t> O(n²) clauses</a:t>
            </a:r>
          </a:p>
          <a:p>
            <a:pPr marL="685800" lvl="1" indent="-228600">
              <a:spcBef>
                <a:spcPts val="2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Better encodings exist but are more complex </a:t>
            </a:r>
            <a:r>
              <a:rPr lang="en-US" dirty="0"/>
              <a:t>--</a:t>
            </a:r>
            <a:r>
              <a:rPr dirty="0"/>
              <a:t> more room for bugs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Solution: Use a proof assistant to formally verify encodings!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65D"/>
                </a:solidFill>
              </a:defRPr>
            </a:pPr>
            <a:r>
              <a:t>Proof Assistants &amp; Coq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Coq: a proof assistant based on the Calculus of Inductive Constructions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Curry-Howard correspondence: proofs = programs, propositions = types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If it type-checks, it's correct! No bugs in proofs.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Original paper (Codel, Avigad, Heule, FMCAD 2023) used Lean 3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We replicate the core results in Coq as a learning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65D"/>
                </a:solidFill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Based on "Formally Verified SAT-Based Encodings" (Codel, Avigad, Heule, 2023)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Three phases:</a:t>
            </a:r>
          </a:p>
          <a:p>
            <a:pPr marL="685800" lvl="1" indent="-228600">
              <a:spcBef>
                <a:spcPts val="2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Phase 1: CNF Foundations (Literal, Assignment, Clause, CNF, Gensym, Encoding)</a:t>
            </a:r>
          </a:p>
          <a:p>
            <a:pPr marL="685800" lvl="1" indent="-228600">
              <a:spcBef>
                <a:spcPts val="2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Phase 2: Parity (XOR) Constraints</a:t>
            </a:r>
          </a:p>
          <a:p>
            <a:pPr marL="685800" lvl="1" indent="-228600">
              <a:spcBef>
                <a:spcPts val="2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Phase 3: Cardinality Constraints (At-Most-K)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Team: 5 undergraduate mentees, each responsible for one Phase 1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65D"/>
                </a:solidFill>
              </a:defRPr>
            </a:pPr>
            <a:r>
              <a:rPr dirty="0"/>
              <a:t>Phase 1 </a:t>
            </a:r>
            <a:r>
              <a:rPr lang="en-US" dirty="0"/>
              <a:t>--</a:t>
            </a:r>
            <a:r>
              <a:rPr dirty="0"/>
              <a:t> CNF Foundations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256032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bIns="137160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Inductive literal (V : Type) :=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  | Pos : V -&gt; literal V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  | Neg : V -&gt; literal V.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endParaRPr/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Definition assignment (V : Type) := V -&gt; bool.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Definition clause (V : Type) := list (literal V).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Definition cnf (V : Type) := list (clause V).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Literal: positive or negative variable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Assignment: maps variables to true/false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Clause: disjunction (OR) of literals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CNF: conjunction (AND) of clauses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rPr dirty="0"/>
              <a:t>Phase 1 </a:t>
            </a:r>
            <a:r>
              <a:rPr lang="en-US" dirty="0"/>
              <a:t>--</a:t>
            </a:r>
            <a:r>
              <a:rPr dirty="0"/>
              <a:t> Key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22860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bIns="137160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r>
              <a:t>eval : assignment -&gt; cnf -&gt; bool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r>
              <a:t>agree_on t1 t2 S : two assignments agree on variable set 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r>
              <a:t>satisfiable F : exists t, eval t F = true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r>
              <a:t>eqsat F1 F2 : F1 satisfiable &lt;-&gt; F2 satisfiable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r>
              <a:t>gensym : fresh variable generator with injectivity proof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r>
              <a:t>formula_encodes c F l : F correctly encodes constraint c on literals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72865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200"/>
              </a:spcBef>
              <a:spcAft>
                <a:spcPts val="400"/>
              </a:spcAft>
              <a:defRPr sz="1900">
                <a:solidFill>
                  <a:srgbClr val="000000"/>
                </a:solidFill>
              </a:defRPr>
            </a:pPr>
            <a:r>
              <a:t>eval: Evaluate a formula under an assignment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1900">
                <a:solidFill>
                  <a:srgbClr val="000000"/>
                </a:solidFill>
              </a:defRPr>
            </a:pPr>
            <a:r>
              <a:t>agree_on: Two assignments coincide on a set of variables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1900">
                <a:solidFill>
                  <a:srgbClr val="000000"/>
                </a:solidFill>
              </a:defRPr>
            </a:pPr>
            <a:r>
              <a:t>satisfiable / eqsat: Satisfiability and equisatisfiability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1900">
                <a:solidFill>
                  <a:srgbClr val="000000"/>
                </a:solidFill>
              </a:defRPr>
            </a:pPr>
            <a:r>
              <a:t>gensym: Generates fresh variables disjoint from input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1900">
                <a:solidFill>
                  <a:srgbClr val="000000"/>
                </a:solidFill>
              </a:defRPr>
            </a:pPr>
            <a:r>
              <a:t>formula_encodes: The central correctness predicate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rPr dirty="0"/>
              <a:t>Phase 2 </a:t>
            </a:r>
            <a:r>
              <a:rPr lang="en-US" dirty="0"/>
              <a:t>--</a:t>
            </a:r>
            <a:r>
              <a:rPr dirty="0"/>
              <a:t> Parity Constraints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Parity (XOR): an odd number of inputs must be true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parity l = foldr xor false (map eval l)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Direct encoding: enumerate all valid polarity assignments</a:t>
            </a:r>
          </a:p>
          <a:p>
            <a:pPr marL="685800" lvl="1" indent="-228600">
              <a:spcBef>
                <a:spcPts val="2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Uses "explode" to generate 2^(n-1) clauses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Correctness theorem: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10728655" cy="9144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bIns="137160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Theorem direct_parity_encodes_parity: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  encodes parity direct_parity.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200"/>
              </a:spcBef>
              <a:spcAft>
                <a:spcPts val="400"/>
              </a:spcAft>
              <a:defRPr sz="1900">
                <a:solidFill>
                  <a:srgbClr val="000000"/>
                </a:solidFill>
              </a:defRPr>
            </a:pPr>
            <a:r>
              <a:t>For any input literals and disjoint gensym, the encoding is correct AND well-behaved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rPr dirty="0"/>
              <a:t>Phase 3 </a:t>
            </a:r>
            <a:r>
              <a:rPr lang="en-US" dirty="0"/>
              <a:t>--</a:t>
            </a:r>
            <a:r>
              <a:rPr dirty="0"/>
              <a:t> Cardinality Constraints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At-most-k (AMK): at most k of n variables are true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Special case: At-most-one (AMO), k = 1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Direct AMO encoding: for each pair i &lt; j, add clause ¬x_i ∨ ¬x_j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10728655" cy="82296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bIns="137160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Definition direct_amo (l : list literal) :=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  pairwise (fun x y =&gt; [flip x; flip y]) 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10728655" cy="82296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bIns="137160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Theorem direct_amo_encodes_amo: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333333"/>
                </a:solidFill>
                <a:latin typeface="Courier New"/>
              </a:defRPr>
            </a:pPr>
            <a:r>
              <a:t>  encodes (amk 1) direct_amo.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200"/>
              </a:spcBef>
              <a:spcAft>
                <a:spcPts val="400"/>
              </a:spcAft>
              <a:defRPr sz="1900">
                <a:solidFill>
                  <a:srgbClr val="000000"/>
                </a:solidFill>
              </a:defRPr>
            </a:pPr>
            <a:r>
              <a:t>Formally verified: the pairwise encoding is correct for at-most-one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65D"/>
                </a:solidFill>
              </a:defRPr>
            </a:pPr>
            <a:r>
              <a:rPr dirty="0"/>
              <a:t>What Does </a:t>
            </a:r>
            <a:r>
              <a:rPr lang="en-US" dirty="0"/>
              <a:t>"</a:t>
            </a:r>
            <a:r>
              <a:rPr dirty="0"/>
              <a:t>Correct" Mean?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64592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bIns="137160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r>
              <a:t>formula_encodes c F l :=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r>
              <a:t>  forall tau,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r>
              <a:t>    c evaluates to true on l under tau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r>
              <a:t>    &lt;-&gt; exists sigma, agree_on tau sigma (vars l)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r>
              <a:t>        /\ F evaluates to true under sigma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728655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rPr dirty="0" err="1"/>
              <a:t>is_wb</a:t>
            </a:r>
            <a:r>
              <a:rPr dirty="0"/>
              <a:t> enc (well-behaved): encoding only uses input variables and fresh </a:t>
            </a:r>
            <a:r>
              <a:rPr dirty="0" err="1"/>
              <a:t>gensym</a:t>
            </a:r>
            <a:r>
              <a:rPr dirty="0"/>
              <a:t> variables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encodes c enc = </a:t>
            </a:r>
            <a:r>
              <a:rPr dirty="0" err="1"/>
              <a:t>is_correct</a:t>
            </a:r>
            <a:r>
              <a:rPr dirty="0"/>
              <a:t> c enc AND </a:t>
            </a:r>
            <a:r>
              <a:rPr dirty="0" err="1"/>
              <a:t>is_wb</a:t>
            </a:r>
            <a:r>
              <a:rPr dirty="0"/>
              <a:t> enc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Once proved, we have mathematical certainty the encoding is correct!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No testing needed </a:t>
            </a:r>
            <a:r>
              <a:rPr lang="en-US" dirty="0"/>
              <a:t>--</a:t>
            </a:r>
            <a:r>
              <a:rPr dirty="0"/>
              <a:t> the proof covers ALL possible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65D"/>
                </a:solidFill>
              </a:defRPr>
            </a:pPr>
            <a:r>
              <a:t>Challenges &amp; Lessons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Lean to Coq translation: different tactic languages, different automation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Lean's simp vs Coq's </a:t>
            </a:r>
            <a:r>
              <a:rPr dirty="0" err="1"/>
              <a:t>simpl</a:t>
            </a:r>
            <a:r>
              <a:rPr dirty="0"/>
              <a:t> / auto / </a:t>
            </a:r>
            <a:r>
              <a:rPr dirty="0" err="1"/>
              <a:t>lia</a:t>
            </a:r>
            <a:r>
              <a:rPr dirty="0"/>
              <a:t> </a:t>
            </a:r>
            <a:r>
              <a:rPr lang="en-US" dirty="0"/>
              <a:t>--</a:t>
            </a:r>
            <a:r>
              <a:rPr dirty="0"/>
              <a:t> different proof strategies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rPr dirty="0" err="1"/>
              <a:t>Mathcomp</a:t>
            </a:r>
            <a:r>
              <a:rPr dirty="0"/>
              <a:t> vs standard library: finite sets, decidability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Team coordination: consistent naming conventions, import structure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Proof strategies: induction on lists, case analysis on </a:t>
            </a:r>
            <a:r>
              <a:rPr dirty="0" err="1"/>
              <a:t>booleans</a:t>
            </a:r>
            <a:endParaRPr dirty="0"/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Learning curve: Coq is powerful but demanding for beginners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65D"/>
                </a:solidFill>
              </a:defRPr>
            </a:pPr>
            <a:r>
              <a:t>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Sequential counter (SC) encodings for AMO/AMK (linear size)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Pseudo-boolean constraints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Recursive parity encoding (Tseitin-style, linear number of clauses)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Symmetry breaking constraints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Full Sudoku solver verification in Coq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Connection to certified SAT solving (DRAT proofs)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65D"/>
                </a:solidFill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200"/>
              </a:spcBef>
              <a:spcAft>
                <a:spcPts val="400"/>
              </a:spcAft>
              <a:defRPr sz="1900">
                <a:solidFill>
                  <a:srgbClr val="000000"/>
                </a:solidFill>
              </a:defRPr>
            </a:pPr>
            <a:r>
              <a:t>Codel, Avigad, Heule. "Formally Verified SAT-Based Encodings." FMCAD 2023.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1900">
                <a:solidFill>
                  <a:srgbClr val="000000"/>
                </a:solidFill>
              </a:defRPr>
            </a:pPr>
            <a:r>
              <a:t>The Coq Development Team. "The Coq Proof Assistant." https://coq.inria.fr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1900">
                <a:solidFill>
                  <a:srgbClr val="000000"/>
                </a:solidFill>
              </a:defRPr>
            </a:pPr>
            <a:r>
              <a:t>Pierce et al. "Software Foundations." https://softwarefoundations.cis.upenn.edu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1900">
                <a:solidFill>
                  <a:srgbClr val="000000"/>
                </a:solidFill>
              </a:defRPr>
            </a:pPr>
            <a:r>
              <a:t>Original Lean implementation: github.com/ccodel/verified-encodings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B365D"/>
                </a:solidFill>
              </a:defRPr>
            </a:pPr>
            <a:r>
              <a:t>Thank You!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926080"/>
            <a:ext cx="3047695" cy="45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1B365D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555555"/>
                </a:solidFill>
              </a:defRPr>
            </a:pPr>
            <a:r>
              <a:t>github.com/ccodel/verified-encodings</a:t>
            </a:r>
          </a:p>
          <a:p>
            <a:pPr>
              <a:defRPr sz="1000"/>
            </a:pPr>
            <a:endParaRPr/>
          </a:p>
          <a:p>
            <a:pPr algn="ctr">
              <a:defRPr sz="1600">
                <a:solidFill>
                  <a:srgbClr val="555555"/>
                </a:solidFill>
              </a:defRPr>
            </a:pPr>
            <a:r>
              <a:t>Acknowledgments: UWaterloo Women in Math, Directed Reading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1104</Words>
  <Application>Microsoft Macintosh PowerPoint</Application>
  <PresentationFormat>Widescreen</PresentationFormat>
  <Paragraphs>129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Mehrad Haghshenas</cp:lastModifiedBy>
  <cp:revision>5</cp:revision>
  <dcterms:created xsi:type="dcterms:W3CDTF">2013-01-27T09:14:16Z</dcterms:created>
  <dcterms:modified xsi:type="dcterms:W3CDTF">2026-03-31T14:08:59Z</dcterms:modified>
  <cp:category/>
</cp:coreProperties>
</file>